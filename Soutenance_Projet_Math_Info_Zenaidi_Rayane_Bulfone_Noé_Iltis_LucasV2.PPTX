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8EEB99FC-E59B-42FA-A441-BFDA990DCF62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189057-24BD-4966-96CF-ABE32089E7A5}" type="datetimeFigureOut">
              <a:rPr lang="fr-FR" smtClean="0"/>
              <a:t>05/05/2024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1564A3-41D0-4072-A63A-9DE13D3D658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7316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3080A8-2236-05E2-13DD-DF8930BEED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331B39A-D132-B982-118C-8E24D75594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6E7F46-1347-10DF-BC7F-646FB3D0E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95366-3204-4F46-8977-660251A6C6BF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4008AA4-F037-D5A9-7BA6-C41567D1F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AF6BEB3-89AE-EE42-9353-63F4B80F8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1602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3D6687-86E9-035C-3085-61A4821A4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644698-DC91-EE49-5A2E-738C90DA2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9F4B76-974F-EE4D-5049-8DFF05DFB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ADA06-49FA-478D-A752-ABFD3540D829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5E404F-973C-8CF8-2C8A-571025593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1ECAC68-409E-B1F8-9597-04A692FCD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9852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AF00B2-54CB-C6B3-EFAA-FD058C79A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1B73FC2-6D06-B27A-B46E-33E83A63E6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BC1EC25-5513-956C-D17E-F6167609D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9E2FCB-2BA6-4C7B-9892-4602055492E5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B02BE3-A3F3-6230-670E-865F21882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F558243-0F96-3B73-5C5E-54B2B8D78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0496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E185D8-D4C4-1AD6-A0E1-152D8BF45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76006A3-DE19-B4AA-686B-AC39699F8C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281DDEF-6714-AECB-4985-D392D3423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DED72ED-2E54-5AFA-4FE6-695D6F229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6F494-80DA-428D-91ED-45C960EBAD95}" type="datetime1">
              <a:rPr lang="fr-FR" smtClean="0"/>
              <a:t>05/05/2024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433DD85-015B-2D86-A957-D346F89A2E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A96279F-486B-2087-2056-EF5E394F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9048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1A9236-8E69-D054-1409-17DA333A0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0DCC622-3085-3965-2498-48E5D1B4A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F0E631A-5FE5-10E3-7EFF-36EE515BE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411B7C-74FB-97D5-27CC-86762AE4A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1C10BB6-7D67-545B-34EA-7AA727560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2A775D-3414-E893-9790-BBFC42B45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42435-7480-48A0-BB7E-3F56D7B291C7}" type="datetime1">
              <a:rPr lang="fr-FR" smtClean="0"/>
              <a:t>05/05/2024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6D573D1-E9BE-6C58-5872-139CDC424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4BC3A25-D234-A035-742D-15262B60D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41522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B6C11E2-D068-0705-F351-F12CE8C84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3953931-D3EB-B532-F98B-3692FC749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86B472-F7AD-4BE4-A020-ECF715506EEA}" type="datetime1">
              <a:rPr lang="fr-FR" smtClean="0"/>
              <a:t>05/05/2024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65EE89A-8A75-B099-FFD4-09B9A1CC5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ABBE00-567C-0BEE-381D-CF82CA7FD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6930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1806484-3EFC-B1BA-FAC1-DA992A9FB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7F71A5-90A8-4F8B-B04B-2BEFDF915D3B}" type="datetime1">
              <a:rPr lang="fr-FR" smtClean="0"/>
              <a:t>05/05/2024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105AD639-5325-4B70-4896-BFCB5BE1A1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4995AED-9234-D330-F485-25505604C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9826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7DF02-2493-5F5F-9691-58835B12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D1A3FFB-EB20-FF6F-A90A-607FC7AD7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47CD127-7809-8127-EFAA-10697D7BF0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15D480-795E-CB0D-6353-FAE3D4569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ECC2AF-2A42-49C2-9DFB-C17A553DDC14}" type="datetime1">
              <a:rPr lang="fr-FR" smtClean="0"/>
              <a:t>05/05/2024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3DE303-BEBD-EC8C-28EF-07A2E754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618C341-CE3D-BBB5-5044-3DA1A4FC2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707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E86028B-6569-0C98-BCBF-340F4911CB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8FC7D809-0B97-61AA-886B-CD830CA243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4F8C203-F0B8-21E8-3AD9-B30A8B8D8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A411AC-2C55-CC3F-0CBB-1608B5041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7A464D-C681-4DD8-AC19-D69635B5F406}" type="datetime1">
              <a:rPr lang="fr-FR" smtClean="0"/>
              <a:t>05/05/2024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6671332F-B2C7-9B60-CA90-D794F7B1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60900F-5FD5-3618-44C0-32136DB65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1850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42F54B-8E3A-F89D-5A25-A0CBBFF08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4114293-B8C7-D181-A57C-563FD83F3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CC9417-86E1-D7AE-3933-258D84EC9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8BA8D4-8FDC-471E-B6B1-7FD532D60C0B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CD496F8-4067-F453-A757-569B2ADC2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E9DE9D-C3E5-D862-D172-294C5DD00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251417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CB4E08A-F926-D71A-4397-6D65F13117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E6D40D2-25F2-C94E-7F37-54ABE01131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DA3043-8A67-5077-F9C2-C58C80879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5BACD-A787-4C3C-BB5A-C8ECACB57C33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8048886-C518-F575-AABD-F6F40D00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A00FFFE-C647-472F-2921-924CCD33D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4723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F921DA5-604B-D1BA-F7DD-B30C7DAEA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5EF8DE5-1F16-E677-58C8-DB0D9996D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3D35084-67B9-EEE9-313B-F970114883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9C8F48-9ABD-4EA2-B730-451C0BEE9261}" type="datetime1">
              <a:rPr lang="fr-FR" smtClean="0"/>
              <a:t>05/05/2024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66C2D3-6566-8382-52F7-D3BA25C6D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419FE80-7A7C-434A-49FC-2309F08EC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533DF1-3454-4149-A826-38F2AB9A253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8950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dre de texte 1">
            <a:extLst>
              <a:ext uri="{FF2B5EF4-FFF2-40B4-BE49-F238E27FC236}">
                <a16:creationId xmlns:a16="http://schemas.microsoft.com/office/drawing/2014/main" id="{489F8FCC-75D4-E6FC-A79D-EFF466C9F7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433" y="4252185"/>
            <a:ext cx="2022863" cy="89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ZENAIDI Rayane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LDD-IM TD 2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Cadre de texte 2">
            <a:extLst>
              <a:ext uri="{FF2B5EF4-FFF2-40B4-BE49-F238E27FC236}">
                <a16:creationId xmlns:a16="http://schemas.microsoft.com/office/drawing/2014/main" id="{CDA8E66C-3CCF-7E67-FDCA-74F863AFCA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2511" y="4120414"/>
            <a:ext cx="2022863" cy="89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ee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BULFONE Noe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LDD-IM TD 2</a:t>
            </a:r>
            <a:endParaRPr kumimoji="0" lang="en-US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Cadre de texte 3">
            <a:extLst>
              <a:ext uri="{FF2B5EF4-FFF2-40B4-BE49-F238E27FC236}">
                <a16:creationId xmlns:a16="http://schemas.microsoft.com/office/drawing/2014/main" id="{881DBCC8-7EA5-9849-7C16-16898E7D1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25972" y="4120415"/>
            <a:ext cx="2022863" cy="896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7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ee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ILTIS Lucas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LDD-IM TD 1</a:t>
            </a:r>
            <a:endParaRPr kumimoji="0" lang="fr-FR" altLang="fr-FR" sz="17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9" name="Image4">
            <a:extLst>
              <a:ext uri="{FF2B5EF4-FFF2-40B4-BE49-F238E27FC236}">
                <a16:creationId xmlns:a16="http://schemas.microsoft.com/office/drawing/2014/main" id="{E7BA8F60-E73A-9BE2-FA9B-35D64D2D0F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adre de texte 4">
            <a:extLst>
              <a:ext uri="{FF2B5EF4-FFF2-40B4-BE49-F238E27FC236}">
                <a16:creationId xmlns:a16="http://schemas.microsoft.com/office/drawing/2014/main" id="{81959787-58B0-109A-34FE-2AE0F96E4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30200" y="1048261"/>
            <a:ext cx="3589849" cy="529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500" b="0" i="1" u="none" strike="noStrike" cap="none" normalizeH="0" baseline="0" dirty="0">
              <a:ln>
                <a:noFill/>
              </a:ln>
              <a:solidFill>
                <a:srgbClr val="666666"/>
              </a:solidFill>
              <a:effectLst/>
              <a:latin typeface="FreeSans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500" b="0" i="1" u="none" strike="noStrike" cap="none" normalizeH="0" baseline="0" dirty="0">
                <a:ln>
                  <a:noFill/>
                </a:ln>
                <a:solidFill>
                  <a:srgbClr val="666666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Projet Labyrinthe</a:t>
            </a:r>
            <a:endParaRPr kumimoji="0" lang="fr-FR" altLang="fr-F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228CEFE-C95E-5EE1-1479-07F7C2EC2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3783" y="276587"/>
            <a:ext cx="4284434" cy="140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UE :  Projet Math-Info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3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Soutenance</a:t>
            </a:r>
            <a:endParaRPr kumimoji="0" lang="fr-FR" altLang="fr-FR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25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6D970DEA-B1CA-07F4-CD96-3DC81CD23F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3" t="2006"/>
          <a:stretch/>
        </p:blipFill>
        <p:spPr>
          <a:xfrm>
            <a:off x="4908119" y="2100530"/>
            <a:ext cx="2156291" cy="1596324"/>
          </a:xfrm>
          <a:prstGeom prst="rect">
            <a:avLst/>
          </a:prstGeom>
        </p:spPr>
      </p:pic>
      <p:sp>
        <p:nvSpPr>
          <p:cNvPr id="18" name="Espace réservé du numéro de diapositive 17">
            <a:extLst>
              <a:ext uri="{FF2B5EF4-FFF2-40B4-BE49-F238E27FC236}">
                <a16:creationId xmlns:a16="http://schemas.microsoft.com/office/drawing/2014/main" id="{906E645F-0229-EBF0-E228-1F1EE19DB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z="1300" smtClean="0"/>
              <a:t>1</a:t>
            </a:fld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377052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dre de texte 2">
            <a:extLst>
              <a:ext uri="{FF2B5EF4-FFF2-40B4-BE49-F238E27FC236}">
                <a16:creationId xmlns:a16="http://schemas.microsoft.com/office/drawing/2014/main" id="{830C7212-36A4-4736-04C7-7F6E0F6EB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5881" y="595437"/>
            <a:ext cx="1540238" cy="8960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28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eeSans"/>
                <a:ea typeface="Calibri" panose="020F0502020204030204" pitchFamily="34" charset="0"/>
                <a:cs typeface="Calibri" panose="020F0502020204030204" pitchFamily="34" charset="0"/>
              </a:rPr>
              <a:t>Sommaire</a:t>
            </a:r>
            <a:endParaRPr kumimoji="0" lang="en-US" altLang="fr-FR" sz="2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598607D-EE70-836D-42DB-2A90B25B620D}"/>
              </a:ext>
            </a:extLst>
          </p:cNvPr>
          <p:cNvSpPr txBox="1"/>
          <p:nvPr/>
        </p:nvSpPr>
        <p:spPr>
          <a:xfrm>
            <a:off x="2638498" y="1799063"/>
            <a:ext cx="8416078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300" b="1" dirty="0"/>
              <a:t>Structure de données et Génération</a:t>
            </a:r>
          </a:p>
          <a:p>
            <a:endParaRPr lang="fr-FR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300" b="1" dirty="0"/>
              <a:t>Modélisation et visualisation</a:t>
            </a:r>
          </a:p>
          <a:p>
            <a:pPr marL="971550" lvl="1" indent="-514350">
              <a:buFont typeface="+mj-lt"/>
              <a:buAutoNum type="romanUcPeriod"/>
            </a:pPr>
            <a:r>
              <a:rPr kumimoji="0" lang="fr-FR" altLang="fr-FR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d’un labyrinthe à partir d’un pseudo-labyrinthe</a:t>
            </a:r>
          </a:p>
          <a:p>
            <a:pPr marL="971550" lvl="1" indent="-514350">
              <a:buFont typeface="+mj-lt"/>
              <a:buAutoNum type="romanUcPeriod"/>
            </a:pPr>
            <a:r>
              <a:rPr kumimoji="0" lang="fr-FR" altLang="fr-FR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d’un labyrinthe à partir d’un tableau de cellules</a:t>
            </a:r>
            <a:endParaRPr lang="fr-FR" dirty="0"/>
          </a:p>
          <a:p>
            <a:endParaRPr lang="fr-FR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300" b="1" dirty="0"/>
              <a:t>Énumération</a:t>
            </a:r>
          </a:p>
          <a:p>
            <a:endParaRPr lang="fr-FR" dirty="0"/>
          </a:p>
          <a:p>
            <a:pPr marL="285750" indent="-285750">
              <a:buFontTx/>
              <a:buChar char="-"/>
            </a:pPr>
            <a:endParaRPr lang="fr-FR" dirty="0"/>
          </a:p>
          <a:p>
            <a:endParaRPr lang="fr-FR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792838B-2B9D-0E42-233C-841D40E21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z="1300" smtClean="0"/>
              <a:t>2</a:t>
            </a:fld>
            <a:endParaRPr lang="fr-FR" sz="1300" dirty="0"/>
          </a:p>
        </p:txBody>
      </p:sp>
    </p:spTree>
    <p:extLst>
      <p:ext uri="{BB962C8B-B14F-4D97-AF65-F5344CB8AC3E}">
        <p14:creationId xmlns:p14="http://schemas.microsoft.com/office/powerpoint/2010/main" val="664696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D2DC0EE-3861-5D9B-4336-52448312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3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2525C2C-FAB0-68BD-FDE9-7738B1BDC987}"/>
              </a:ext>
            </a:extLst>
          </p:cNvPr>
          <p:cNvSpPr txBox="1"/>
          <p:nvPr/>
        </p:nvSpPr>
        <p:spPr>
          <a:xfrm>
            <a:off x="4276798" y="570209"/>
            <a:ext cx="3638404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Structure de données et Génération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04A7D47-865F-702C-BDBE-1DC49145783A}"/>
              </a:ext>
            </a:extLst>
          </p:cNvPr>
          <p:cNvSpPr txBox="1"/>
          <p:nvPr/>
        </p:nvSpPr>
        <p:spPr>
          <a:xfrm>
            <a:off x="452837" y="1974545"/>
            <a:ext cx="693129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Première structure de données :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tableaux/matrices 2D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représentants respectivement l’emplacement des murs horizontaux et verticaux</a:t>
            </a:r>
            <a:r>
              <a:rPr lang="fr-FR" altLang="fr-FR" sz="1700" dirty="0">
                <a:latin typeface="Arial" panose="020B0604020202020204" pitchFamily="34" charset="0"/>
              </a:rPr>
              <a:t>. Avec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0 ou 1 en fonction de si un mur est présent ou non. (pseudo-labyrinthe)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045A816-5811-D2FA-FA82-9D18538CE6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348" y="2059624"/>
            <a:ext cx="4148717" cy="919291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BF53AB08-B4DB-A0F0-3A31-767F85BB3F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7348" y="3614149"/>
            <a:ext cx="3595094" cy="692014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97BF3F03-814A-0346-3B60-5AC6FDE49926}"/>
              </a:ext>
            </a:extLst>
          </p:cNvPr>
          <p:cNvSpPr txBox="1"/>
          <p:nvPr/>
        </p:nvSpPr>
        <p:spPr>
          <a:xfrm>
            <a:off x="402813" y="3429000"/>
            <a:ext cx="693129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Deuxième structure de données :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tableau de cellules + matrice d’adjacence.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 cellule est définie par l’emplacement de ses 4 murs.</a:t>
            </a:r>
          </a:p>
        </p:txBody>
      </p:sp>
    </p:spTree>
    <p:extLst>
      <p:ext uri="{BB962C8B-B14F-4D97-AF65-F5344CB8AC3E}">
        <p14:creationId xmlns:p14="http://schemas.microsoft.com/office/powerpoint/2010/main" val="1951367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4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56E794F-FED0-94EE-380B-87CB8A2358CD}"/>
              </a:ext>
            </a:extLst>
          </p:cNvPr>
          <p:cNvSpPr txBox="1"/>
          <p:nvPr/>
        </p:nvSpPr>
        <p:spPr>
          <a:xfrm>
            <a:off x="4063758" y="510159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CADAFE-E29D-20DA-FE3E-48413079CF37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- Création d’un labyrinthe à partir d’un pseudo-labyrinthe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C1EC42DE-075D-5B31-DD77-9B282D53CE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758" y="2221434"/>
            <a:ext cx="2878148" cy="214486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5ADF2A5-4522-A064-AAD9-527B89EF1E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976" y="2221434"/>
            <a:ext cx="2878148" cy="2144862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155BE89-794E-6C1D-F8C9-463F30C69481}"/>
              </a:ext>
            </a:extLst>
          </p:cNvPr>
          <p:cNvSpPr txBox="1"/>
          <p:nvPr/>
        </p:nvSpPr>
        <p:spPr>
          <a:xfrm>
            <a:off x="8423540" y="2210932"/>
            <a:ext cx="3205926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dirty="0">
                <a:latin typeface="Arial" panose="020B0604020202020204" pitchFamily="34" charset="0"/>
              </a:rPr>
              <a:t>Un </a:t>
            </a:r>
            <a:r>
              <a:rPr lang="fr-FR" altLang="fr-FR" sz="1700" b="1" dirty="0">
                <a:latin typeface="Arial" panose="020B0604020202020204" pitchFamily="34" charset="0"/>
              </a:rPr>
              <a:t>pseudo-labyrinth</a:t>
            </a:r>
            <a:r>
              <a:rPr lang="fr-FR" altLang="fr-FR" sz="1700" dirty="0">
                <a:latin typeface="Arial" panose="020B0604020202020204" pitchFamily="34" charset="0"/>
              </a:rPr>
              <a:t>e est un </a:t>
            </a:r>
            <a:r>
              <a:rPr lang="fr-FR" altLang="fr-FR" sz="1700" b="1" dirty="0">
                <a:latin typeface="Arial" panose="020B0604020202020204" pitchFamily="34" charset="0"/>
              </a:rPr>
              <a:t>labyrinthe</a:t>
            </a:r>
            <a:r>
              <a:rPr lang="fr-FR" altLang="fr-FR" sz="1700" dirty="0">
                <a:latin typeface="Arial" panose="020B0604020202020204" pitchFamily="34" charset="0"/>
              </a:rPr>
              <a:t> s’il respecte la condition de connexité et de minimalité.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8222C75-99A9-057C-7566-E34DD67C00B9}"/>
              </a:ext>
            </a:extLst>
          </p:cNvPr>
          <p:cNvSpPr txBox="1"/>
          <p:nvPr/>
        </p:nvSpPr>
        <p:spPr>
          <a:xfrm>
            <a:off x="1647788" y="4533810"/>
            <a:ext cx="197756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i="1" dirty="0">
                <a:latin typeface="Arial" panose="020B0604020202020204" pitchFamily="34" charset="0"/>
              </a:rPr>
              <a:t>Pseudo-labyrinthe</a:t>
            </a:r>
            <a:endParaRPr kumimoji="0" lang="fr-FR" altLang="fr-FR" sz="170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9FB0C6F-A544-3E89-BE84-F92A5D6EA14C}"/>
              </a:ext>
            </a:extLst>
          </p:cNvPr>
          <p:cNvSpPr txBox="1"/>
          <p:nvPr/>
        </p:nvSpPr>
        <p:spPr>
          <a:xfrm>
            <a:off x="5662076" y="4533809"/>
            <a:ext cx="12075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i="1" dirty="0">
                <a:latin typeface="Arial" panose="020B0604020202020204" pitchFamily="34" charset="0"/>
              </a:rPr>
              <a:t>Labyrinthe</a:t>
            </a:r>
            <a:endParaRPr kumimoji="0" lang="fr-FR" altLang="fr-FR" sz="1700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BB870F6-8E49-40DF-A235-4A79C34E9BAF}"/>
              </a:ext>
            </a:extLst>
          </p:cNvPr>
          <p:cNvSpPr txBox="1"/>
          <p:nvPr/>
        </p:nvSpPr>
        <p:spPr>
          <a:xfrm>
            <a:off x="8423540" y="3435980"/>
            <a:ext cx="3205926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dirty="0">
                <a:latin typeface="Arial" panose="020B0604020202020204" pitchFamily="34" charset="0"/>
              </a:rPr>
              <a:t>Par convention l’entrée est toujours en haut à gauche et la sortie en bas à droite.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7970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5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B9B90B6-BB31-4AEB-455E-E6201802B6A3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- Création d’un labyrinthe à partir d’un pseudo-labyrinthe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FC5A3CA-913E-8DAE-8E70-76262DC31CE7}"/>
              </a:ext>
            </a:extLst>
          </p:cNvPr>
          <p:cNvSpPr txBox="1"/>
          <p:nvPr/>
        </p:nvSpPr>
        <p:spPr>
          <a:xfrm>
            <a:off x="452837" y="1970507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fr-FR" sz="1700" b="1" u="sng" dirty="0">
                <a:latin typeface="Arial" panose="020B0604020202020204" pitchFamily="34" charset="0"/>
              </a:rPr>
              <a:t>3 algorithmes : </a:t>
            </a:r>
            <a:endParaRPr kumimoji="0" lang="fr-FR" altLang="fr-FR" sz="1700" b="1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5CA2D3B-1861-6CCD-B998-83F0DEB27795}"/>
              </a:ext>
            </a:extLst>
          </p:cNvPr>
          <p:cNvSpPr txBox="1"/>
          <p:nvPr/>
        </p:nvSpPr>
        <p:spPr>
          <a:xfrm>
            <a:off x="1542322" y="2371164"/>
            <a:ext cx="693129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Naïve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</a:t>
            </a:r>
            <a:r>
              <a:rPr lang="fr-FR" altLang="fr-FR" sz="1700" dirty="0">
                <a:latin typeface="Arial" panose="020B0604020202020204" pitchFamily="34" charset="0"/>
              </a:rPr>
              <a:t>G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énère un pseudo-labyrinthe avec le bon nombre de murs (</a:t>
            </a:r>
            <a:r>
              <a:rPr kumimoji="0" lang="fr-FR" altLang="fr-FR" sz="170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n*m - n - m + 1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on réitère tant qu’il n’est pas connexe. Complexité : O(</a:t>
            </a:r>
            <a:r>
              <a:rPr lang="fr-FR" sz="1600" dirty="0"/>
              <a:t>∞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9A14EE1-D60F-0614-74BF-D129F0C095FC}"/>
              </a:ext>
            </a:extLst>
          </p:cNvPr>
          <p:cNvSpPr txBox="1"/>
          <p:nvPr/>
        </p:nvSpPr>
        <p:spPr>
          <a:xfrm>
            <a:off x="1542322" y="3378183"/>
            <a:ext cx="6931292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Connexe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Ajoute des murs jusqu’à ce qu’il y en ai le bon nombre en les stockant dans un dictionnaire. Vérifie la connexité à chaque ajout.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Complexité : </a:t>
            </a:r>
            <a:r>
              <a:rPr lang="fr-FR" sz="1700" dirty="0"/>
              <a:t>O((n*m))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8813C39-443C-2B2D-354C-F24169F59F67}"/>
              </a:ext>
            </a:extLst>
          </p:cNvPr>
          <p:cNvSpPr txBox="1"/>
          <p:nvPr/>
        </p:nvSpPr>
        <p:spPr>
          <a:xfrm>
            <a:off x="1542322" y="4371404"/>
            <a:ext cx="6931292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700" b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Connexe avec mémoire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: Similaire au précédent mais garde en mémoire les murs responsables de la déconnexion. Permet de raccourcir la durée de génération mais peut introduire des </a:t>
            </a:r>
            <a:r>
              <a:rPr lang="fr-FR" altLang="fr-FR" sz="1700" dirty="0">
                <a:latin typeface="Arial" panose="020B0604020202020204" pitchFamily="34" charset="0"/>
              </a:rPr>
              <a:t>biais.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Complexité : </a:t>
            </a:r>
            <a:r>
              <a:rPr lang="fr-FR" sz="1800" dirty="0"/>
              <a:t>O((n*m))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718F286-EFA6-D9AF-7B1F-8F2172E22A96}"/>
              </a:ext>
            </a:extLst>
          </p:cNvPr>
          <p:cNvSpPr txBox="1"/>
          <p:nvPr/>
        </p:nvSpPr>
        <p:spPr>
          <a:xfrm>
            <a:off x="4063758" y="555531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8077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6</a:t>
            </a:fld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6E7123B8-6865-D1B6-18B7-A62C0452F0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15" y="1548097"/>
            <a:ext cx="2436206" cy="1818411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B57E5CE-AE9A-9954-C090-B28BCA6AFD2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5" t="1714"/>
          <a:stretch/>
        </p:blipFill>
        <p:spPr>
          <a:xfrm>
            <a:off x="6274471" y="1829072"/>
            <a:ext cx="3876520" cy="124159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06031E2E-8E0B-ABB8-5964-5C8EF2F0553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4471" y="3992465"/>
            <a:ext cx="3876520" cy="1276415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D962C14-6C95-4CB0-2DF5-9FA639F736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415" y="3802407"/>
            <a:ext cx="2436206" cy="1818412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1ECC0926-B60D-76DD-42D8-8BD21C19458B}"/>
              </a:ext>
            </a:extLst>
          </p:cNvPr>
          <p:cNvSpPr txBox="1"/>
          <p:nvPr/>
        </p:nvSpPr>
        <p:spPr>
          <a:xfrm>
            <a:off x="383036" y="978347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Comparaison du temps de génération pour un labyrinthe 5*5 et 7*7 :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1576F46-0E80-783B-CFCA-4EB0241AA1C1}"/>
              </a:ext>
            </a:extLst>
          </p:cNvPr>
          <p:cNvSpPr txBox="1"/>
          <p:nvPr/>
        </p:nvSpPr>
        <p:spPr>
          <a:xfrm>
            <a:off x="3168990" y="3400058"/>
            <a:ext cx="205711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Labyrinthe 5*5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840D4FE-9D85-4850-8D92-DCCF8432E6FB}"/>
              </a:ext>
            </a:extLst>
          </p:cNvPr>
          <p:cNvSpPr txBox="1"/>
          <p:nvPr/>
        </p:nvSpPr>
        <p:spPr>
          <a:xfrm>
            <a:off x="3168990" y="5676659"/>
            <a:ext cx="205711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Labyrinthe 7*7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2C2801-C8B4-2F78-B385-3315B57E8F43}"/>
              </a:ext>
            </a:extLst>
          </p:cNvPr>
          <p:cNvSpPr/>
          <p:nvPr/>
        </p:nvSpPr>
        <p:spPr>
          <a:xfrm>
            <a:off x="9416226" y="2874743"/>
            <a:ext cx="572372" cy="195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B5F4DCF-1779-80E1-CE44-58CFF6DF977B}"/>
              </a:ext>
            </a:extLst>
          </p:cNvPr>
          <p:cNvSpPr/>
          <p:nvPr/>
        </p:nvSpPr>
        <p:spPr>
          <a:xfrm>
            <a:off x="9563751" y="5080393"/>
            <a:ext cx="572372" cy="195921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2A3A323F-C680-7FC1-9E16-B6EB8D311176}"/>
              </a:ext>
            </a:extLst>
          </p:cNvPr>
          <p:cNvSpPr txBox="1"/>
          <p:nvPr/>
        </p:nvSpPr>
        <p:spPr>
          <a:xfrm>
            <a:off x="4063758" y="375407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5337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7</a:t>
            </a:fld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299A433-4308-AAAF-23D1-380651811D41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 - Création d’un labyrinthe à partir d’un tableau de cellules :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82AD5692-935C-2602-3096-F0BDD6816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412" y="2331374"/>
            <a:ext cx="4162584" cy="2500976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586AB88-C549-679F-BA17-258DF0750B97}"/>
              </a:ext>
            </a:extLst>
          </p:cNvPr>
          <p:cNvSpPr txBox="1"/>
          <p:nvPr/>
        </p:nvSpPr>
        <p:spPr>
          <a:xfrm>
            <a:off x="7208246" y="3012475"/>
            <a:ext cx="321845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Algorithme implémenté en </a:t>
            </a:r>
            <a:r>
              <a:rPr kumimoji="0" lang="fr-FR" altLang="fr-FR" sz="1700" b="1" i="0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c++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pour des raisons de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performances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et de gestion </a:t>
            </a:r>
            <a:r>
              <a:rPr kumimoji="0" lang="fr-FR" altLang="fr-FR" sz="17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mémoire</a:t>
            </a:r>
            <a:r>
              <a:rPr kumimoji="0" lang="fr-FR" altLang="fr-FR" sz="1700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8B28ADB-6CC1-E7C5-94CD-D2D09A173780}"/>
              </a:ext>
            </a:extLst>
          </p:cNvPr>
          <p:cNvSpPr txBox="1"/>
          <p:nvPr/>
        </p:nvSpPr>
        <p:spPr>
          <a:xfrm>
            <a:off x="1874152" y="4901292"/>
            <a:ext cx="41011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altLang="fr-FR" sz="16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Algorithme de </a:t>
            </a:r>
            <a:r>
              <a:rPr lang="fr-FR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Génération Aléatoire de Labyrinthes en C++</a:t>
            </a:r>
            <a:endParaRPr kumimoji="0" lang="fr-FR" altLang="fr-FR" sz="1600" b="1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2035550-306E-5F1B-B563-F956E77AC433}"/>
              </a:ext>
            </a:extLst>
          </p:cNvPr>
          <p:cNvSpPr txBox="1"/>
          <p:nvPr/>
        </p:nvSpPr>
        <p:spPr>
          <a:xfrm>
            <a:off x="4063758" y="638297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433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">
            <a:extLst>
              <a:ext uri="{FF2B5EF4-FFF2-40B4-BE49-F238E27FC236}">
                <a16:creationId xmlns:a16="http://schemas.microsoft.com/office/drawing/2014/main" id="{B86E63B4-9A8B-F141-3B6C-B74FBC4936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7" y="5599112"/>
            <a:ext cx="1784350" cy="8016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54FB91F5-5029-274B-3F15-361B90683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8</a:t>
            </a:fld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ECCF7B3-A807-5B42-011B-A9F4B4F27EE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-9402" b="64796"/>
          <a:stretch/>
        </p:blipFill>
        <p:spPr>
          <a:xfrm>
            <a:off x="1476986" y="2306418"/>
            <a:ext cx="4283420" cy="1358359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CCDE1831-BB89-A907-4BD8-A772792499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80715" r="-5692"/>
          <a:stretch/>
        </p:blipFill>
        <p:spPr>
          <a:xfrm>
            <a:off x="1476986" y="3664777"/>
            <a:ext cx="4138222" cy="744133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10944E88-11AB-938C-B863-DF308C7AEC2F}"/>
              </a:ext>
            </a:extLst>
          </p:cNvPr>
          <p:cNvSpPr txBox="1"/>
          <p:nvPr/>
        </p:nvSpPr>
        <p:spPr>
          <a:xfrm>
            <a:off x="390016" y="1371933"/>
            <a:ext cx="693129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fr-FR" altLang="fr-FR" sz="17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II - Création d’un labyrinthe à partir d’un tableau de cellules :</a:t>
            </a:r>
            <a:endParaRPr kumimoji="0" lang="fr-FR" altLang="fr-FR" sz="1700" i="0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64DACA1-D2F0-1FD9-FD68-14982B27CF89}"/>
              </a:ext>
            </a:extLst>
          </p:cNvPr>
          <p:cNvSpPr txBox="1"/>
          <p:nvPr/>
        </p:nvSpPr>
        <p:spPr>
          <a:xfrm>
            <a:off x="2483840" y="4845111"/>
            <a:ext cx="7224319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Comparaison du temps de génération pour un labyrinthe 5*5 et 100*100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7EB5D643-BB46-8DB8-36EF-7E9AB039A48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23339" b="65150"/>
          <a:stretch/>
        </p:blipFill>
        <p:spPr>
          <a:xfrm>
            <a:off x="6652558" y="2306418"/>
            <a:ext cx="4544630" cy="1265520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DCC82D54-3CEF-B0A9-94F2-AA6121D484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76" t="79424" r="10833" b="545"/>
          <a:stretch/>
        </p:blipFill>
        <p:spPr>
          <a:xfrm>
            <a:off x="6556220" y="3571938"/>
            <a:ext cx="3782444" cy="8147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EF63FA3-6215-1E50-328C-7E3408EA15B2}"/>
              </a:ext>
            </a:extLst>
          </p:cNvPr>
          <p:cNvSpPr/>
          <p:nvPr/>
        </p:nvSpPr>
        <p:spPr>
          <a:xfrm>
            <a:off x="2142906" y="4151125"/>
            <a:ext cx="879499" cy="3262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F3317D-2336-004A-0302-7C599D591B7D}"/>
              </a:ext>
            </a:extLst>
          </p:cNvPr>
          <p:cNvSpPr/>
          <p:nvPr/>
        </p:nvSpPr>
        <p:spPr>
          <a:xfrm>
            <a:off x="7425718" y="4151125"/>
            <a:ext cx="879499" cy="32625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9953554-1B62-A0AB-7020-D1049AB32F02}"/>
              </a:ext>
            </a:extLst>
          </p:cNvPr>
          <p:cNvSpPr txBox="1"/>
          <p:nvPr/>
        </p:nvSpPr>
        <p:spPr>
          <a:xfrm>
            <a:off x="4063758" y="615720"/>
            <a:ext cx="4064484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Modélisation et visualisation</a:t>
            </a:r>
            <a:endParaRPr lang="fr-FR" sz="25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81827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9AA49C-CE9B-5DF3-178D-59C2A2C97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9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BD2CED-6444-4B85-CAA1-7AD37AAD4BD6}"/>
              </a:ext>
            </a:extLst>
          </p:cNvPr>
          <p:cNvSpPr txBox="1"/>
          <p:nvPr/>
        </p:nvSpPr>
        <p:spPr>
          <a:xfrm>
            <a:off x="4063758" y="668660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Énumération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9BCB3EA-03D4-35B0-6401-8907825D3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218" y="1800881"/>
            <a:ext cx="8845564" cy="2439282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2C503A1A-18FF-AFA0-4F36-FA0B373B8E53}"/>
              </a:ext>
            </a:extLst>
          </p:cNvPr>
          <p:cNvSpPr txBox="1"/>
          <p:nvPr/>
        </p:nvSpPr>
        <p:spPr>
          <a:xfrm>
            <a:off x="2546661" y="4718358"/>
            <a:ext cx="7098677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7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Algorithme renvoyant le nombre de labyrinthes </a:t>
            </a:r>
            <a:r>
              <a:rPr kumimoji="0" lang="fr-FR" altLang="fr-FR" sz="1700" b="1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différents</a:t>
            </a:r>
            <a:r>
              <a:rPr kumimoji="0" lang="fr-FR" altLang="fr-FR" sz="1700" i="1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taille n*m</a:t>
            </a:r>
          </a:p>
        </p:txBody>
      </p:sp>
    </p:spTree>
    <p:extLst>
      <p:ext uri="{BB962C8B-B14F-4D97-AF65-F5344CB8AC3E}">
        <p14:creationId xmlns:p14="http://schemas.microsoft.com/office/powerpoint/2010/main" val="3873784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8BA58D2-BE36-E966-5EBB-D161EEAF2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10</a:t>
            </a:fld>
            <a:endParaRPr lang="fr-FR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B1D591B-2471-A458-02C5-A6FB380F588F}"/>
              </a:ext>
            </a:extLst>
          </p:cNvPr>
          <p:cNvSpPr txBox="1"/>
          <p:nvPr/>
        </p:nvSpPr>
        <p:spPr>
          <a:xfrm>
            <a:off x="1929460" y="5328894"/>
            <a:ext cx="79421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i="1" dirty="0">
                <a:latin typeface="Arial" panose="020B0604020202020204" pitchFamily="34" charset="0"/>
                <a:cs typeface="Arial" panose="020B0604020202020204" pitchFamily="34" charset="0"/>
              </a:rPr>
              <a:t>Nombre de labyrinthes différents en fonction de leur taille</a:t>
            </a:r>
            <a:endParaRPr kumimoji="0" lang="en-US" altLang="fr-FR" i="1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C2F58702-EF22-B772-B83B-E2547C1641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34"/>
          <a:stretch/>
        </p:blipFill>
        <p:spPr>
          <a:xfrm>
            <a:off x="813984" y="1347170"/>
            <a:ext cx="5086543" cy="377929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6ACB088-90DE-9E58-7EF8-A146A03125B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92"/>
          <a:stretch/>
        </p:blipFill>
        <p:spPr>
          <a:xfrm>
            <a:off x="5900527" y="1368110"/>
            <a:ext cx="5412034" cy="3779295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0A7DE445-631F-9339-E566-C27F28225115}"/>
              </a:ext>
            </a:extLst>
          </p:cNvPr>
          <p:cNvSpPr txBox="1"/>
          <p:nvPr/>
        </p:nvSpPr>
        <p:spPr>
          <a:xfrm>
            <a:off x="4063758" y="443744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500" b="1" u="sng" dirty="0"/>
              <a:t>Énumération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6840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E155E94-EB9A-F3AE-BB09-9AA2817B1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533DF1-3454-4149-A826-38F2AB9A2533}" type="slidenum">
              <a:rPr lang="fr-FR" smtClean="0"/>
              <a:t>11</a:t>
            </a:fld>
            <a:endParaRPr lang="fr-FR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86ADC2D-488D-0423-D141-DA968FD0D3F3}"/>
              </a:ext>
            </a:extLst>
          </p:cNvPr>
          <p:cNvSpPr txBox="1"/>
          <p:nvPr/>
        </p:nvSpPr>
        <p:spPr>
          <a:xfrm>
            <a:off x="4063758" y="443744"/>
            <a:ext cx="406448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fr-FR" altLang="fr-FR" sz="25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Conclusion</a:t>
            </a:r>
            <a:endParaRPr kumimoji="0" lang="en-US" altLang="fr-FR" sz="25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B9DFE074-EB31-EA67-CADC-2C64618DCE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170" y="2006039"/>
            <a:ext cx="3806725" cy="2845922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E173487-22A9-5F5A-F3A5-B4E1D0EEDD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6893" y="2080144"/>
            <a:ext cx="3806725" cy="2827657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E7A60247-E041-8902-453D-798BF4E839A3}"/>
              </a:ext>
            </a:extLst>
          </p:cNvPr>
          <p:cNvSpPr txBox="1"/>
          <p:nvPr/>
        </p:nvSpPr>
        <p:spPr>
          <a:xfrm>
            <a:off x="2103614" y="5046360"/>
            <a:ext cx="22558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8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Labyrinthe </a:t>
            </a:r>
            <a:r>
              <a:rPr lang="fr-FR" altLang="fr-FR" i="1" dirty="0">
                <a:latin typeface="Arial" panose="020B0604020202020204" pitchFamily="34" charset="0"/>
              </a:rPr>
              <a:t>100*100</a:t>
            </a:r>
            <a:endParaRPr kumimoji="0" lang="fr-FR" altLang="fr-FR" sz="1800" i="1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BD965CE3-2CB0-4467-D5B2-682BA5555E00}"/>
              </a:ext>
            </a:extLst>
          </p:cNvPr>
          <p:cNvSpPr txBox="1"/>
          <p:nvPr/>
        </p:nvSpPr>
        <p:spPr>
          <a:xfrm>
            <a:off x="6758013" y="5046360"/>
            <a:ext cx="4064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altLang="fr-FR" sz="1800" i="1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Solution unique d’un labyrinthe 2</a:t>
            </a:r>
            <a:r>
              <a:rPr lang="fr-FR" altLang="fr-FR" i="1" dirty="0">
                <a:latin typeface="Arial" panose="020B0604020202020204" pitchFamily="34" charset="0"/>
              </a:rPr>
              <a:t>0*20</a:t>
            </a:r>
            <a:endParaRPr kumimoji="0" lang="fr-FR" altLang="fr-FR" sz="1800" i="1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76144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419</Words>
  <Application>Microsoft Office PowerPoint</Application>
  <PresentationFormat>Grand écran</PresentationFormat>
  <Paragraphs>65</Paragraphs>
  <Slides>11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FreeSans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Lucas_ 117</dc:creator>
  <cp:lastModifiedBy>Lucas_ 117</cp:lastModifiedBy>
  <cp:revision>41</cp:revision>
  <dcterms:created xsi:type="dcterms:W3CDTF">2024-05-04T10:02:30Z</dcterms:created>
  <dcterms:modified xsi:type="dcterms:W3CDTF">2024-05-05T14:52:17Z</dcterms:modified>
</cp:coreProperties>
</file>